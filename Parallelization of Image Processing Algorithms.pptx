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4"/>
  </p:notesMasterIdLst>
  <p:sldIdLst>
    <p:sldId id="256" r:id="rId2"/>
    <p:sldId id="316" r:id="rId3"/>
    <p:sldId id="306" r:id="rId4"/>
    <p:sldId id="307" r:id="rId5"/>
    <p:sldId id="308" r:id="rId6"/>
    <p:sldId id="309" r:id="rId7"/>
    <p:sldId id="317" r:id="rId8"/>
    <p:sldId id="310" r:id="rId9"/>
    <p:sldId id="312" r:id="rId10"/>
    <p:sldId id="313" r:id="rId11"/>
    <p:sldId id="314" r:id="rId12"/>
    <p:sldId id="315" r:id="rId13"/>
  </p:sldIdLst>
  <p:sldSz cx="9144000" cy="5143500" type="screen16x9"/>
  <p:notesSz cx="6858000" cy="9144000"/>
  <p:embeddedFontLst>
    <p:embeddedFont>
      <p:font typeface="Figtree Black" panose="020B0604020202020204" charset="0"/>
      <p:bold r:id="rId15"/>
      <p:boldItalic r:id="rId16"/>
    </p:embeddedFont>
    <p:embeddedFont>
      <p:font typeface="Hanken Grotesk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7F9A06-2055-49A6-AD08-A75371CF797B}">
  <a:tblStyle styleId="{457F9A06-2055-49A6-AD08-A75371CF79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58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DF48EF67-46F9-D31E-B050-2A59593D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CE444CDB-AF27-4EB3-E25F-87A15E188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891141DA-2DC3-DE3E-5AEB-CA0DF9FCFB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9877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C44A884D-5F0C-71B3-108F-E65B67A01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DB79428E-A96C-D42E-460F-64FE7A9B5D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F461BC47-4017-88D4-9B6F-10C3186DC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544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>
          <a:extLst>
            <a:ext uri="{FF2B5EF4-FFF2-40B4-BE49-F238E27FC236}">
              <a16:creationId xmlns:a16="http://schemas.microsoft.com/office/drawing/2014/main" id="{665C587D-BEFD-4438-CC16-61532D550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33f6155f6d_0_30:notes">
            <a:extLst>
              <a:ext uri="{FF2B5EF4-FFF2-40B4-BE49-F238E27FC236}">
                <a16:creationId xmlns:a16="http://schemas.microsoft.com/office/drawing/2014/main" id="{4B3F4EE8-4E2A-43DA-5515-8F1FEE7DA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33f6155f6d_0_30:notes">
            <a:extLst>
              <a:ext uri="{FF2B5EF4-FFF2-40B4-BE49-F238E27FC236}">
                <a16:creationId xmlns:a16="http://schemas.microsoft.com/office/drawing/2014/main" id="{6F95C55A-0EBE-9931-0B55-7033E6976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6838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523D3BD3-2C47-A249-03E7-A697ACFE9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0B3AE9F3-01DB-35B3-829E-D711C448D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E1996BAD-744F-E454-10DE-971C1BBC9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550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EEDE817E-D7AC-4419-D768-6EE91993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69E03678-2F1A-BD2A-92A0-FCA8BDF306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1634EE44-936F-8B2D-FB3F-FE109E211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2236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29107AD7-E6E7-3AEE-5AD6-2BC4D729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0D48CCFC-AA43-2188-CF20-A348B720B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F9974624-54D0-8532-246B-ACDD44624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6790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AC669474-4757-3D01-A167-7B8A7793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7C7DCBB0-54DC-8FAD-64C2-8578E1923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59D650C9-885B-C89F-52CD-CBDD7471A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3994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49A94D8C-9A76-0874-B3C2-B58A379AE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FCA907A6-9D75-0A7A-0944-81A8189CC9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1918D4AC-66E7-96C8-684A-1BB4763AA2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61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61B52D08-4690-AD9C-466E-9E86EAE4B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A9C3095F-6940-D3DC-3442-AC5CAE7AD9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5DA6A727-FABE-E25C-3E33-06483BD9A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274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6141A4BC-EC3D-DC03-1689-9CBE5CBC7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9D74C8A0-6412-0C77-58D8-164C5E492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54117180-8108-0E0A-70ED-45A5B290A6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6173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46391E29-DBE5-3B06-B866-FE9E86EF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340135a080_0_2:notes">
            <a:extLst>
              <a:ext uri="{FF2B5EF4-FFF2-40B4-BE49-F238E27FC236}">
                <a16:creationId xmlns:a16="http://schemas.microsoft.com/office/drawing/2014/main" id="{6B179009-7FC3-C483-E60B-F7D8D0EF82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340135a080_0_2:notes">
            <a:extLst>
              <a:ext uri="{FF2B5EF4-FFF2-40B4-BE49-F238E27FC236}">
                <a16:creationId xmlns:a16="http://schemas.microsoft.com/office/drawing/2014/main" id="{AAC8AD97-01E2-068C-7F23-AD3B0E751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85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169" name="Google Shape;169;p20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20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20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2" name="Google Shape;172;p20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73" name="Google Shape;173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subTitle" idx="1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2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subTitle" idx="3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subTitle" idx="4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subTitle" idx="5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subTitle" idx="6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3" name="Google Shape;263;p27"/>
          <p:cNvSpPr txBox="1">
            <a:spLocks noGrp="1"/>
          </p:cNvSpPr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7"/>
          <p:cNvSpPr txBox="1">
            <a:spLocks noGrp="1"/>
          </p:cNvSpPr>
          <p:nvPr>
            <p:ph type="subTitle" idx="1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66" r:id="rId6"/>
    <p:sldLayoutId id="2147483673" r:id="rId7"/>
    <p:sldLayoutId id="2147483674" r:id="rId8"/>
    <p:sldLayoutId id="2147483675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Parallelization of Image Processing Algorithms</a:t>
            </a:r>
            <a:endParaRPr dirty="0"/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Hanken Grotesk"/>
                <a:ea typeface="Hanken Grotesk"/>
                <a:cs typeface="Hanken Grotesk"/>
                <a:sym typeface="Hanken Grotesk"/>
              </a:rPr>
              <a:t>CSCI465: Parallel Computing Project</a:t>
            </a:r>
            <a:endParaRPr dirty="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89F8E2AF-8AB5-A7E9-F054-665976507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BDD7FCBC-C9F2-0DA6-EA23-42337BEEF7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Members</a:t>
            </a:r>
            <a:endParaRPr dirty="0"/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C02FCDA2-AAF5-C007-4A85-50A0D3C2E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34401" y="1215750"/>
            <a:ext cx="5784038" cy="32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lvl="0" indent="0" algn="ctr" rtl="0">
              <a:lnSpc>
                <a:spcPct val="25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rPr lang="en-US" b="1" dirty="0"/>
              <a:t>AbdelRahman Rahal			221001443</a:t>
            </a:r>
          </a:p>
          <a:p>
            <a:pPr marL="139700" lvl="0" indent="0" algn="ctr" rtl="0">
              <a:lnSpc>
                <a:spcPct val="25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rPr lang="en-US" b="1" dirty="0"/>
              <a:t>Mahmoud </a:t>
            </a:r>
            <a:r>
              <a:rPr lang="en-US" b="1" dirty="0" err="1"/>
              <a:t>AbdelGelil</a:t>
            </a:r>
            <a:r>
              <a:rPr lang="en-US" b="1" dirty="0"/>
              <a:t>			221001313</a:t>
            </a:r>
          </a:p>
          <a:p>
            <a:pPr marL="139700" lvl="0" indent="0" algn="ctr">
              <a:lnSpc>
                <a:spcPct val="250000"/>
              </a:lnSpc>
              <a:spcAft>
                <a:spcPts val="600"/>
              </a:spcAft>
              <a:buSzPts val="1400"/>
              <a:buNone/>
            </a:pPr>
            <a:r>
              <a:rPr lang="en-US" b="1" dirty="0"/>
              <a:t>Mostafa Gamal Amer		221001207</a:t>
            </a:r>
          </a:p>
          <a:p>
            <a:pPr marL="139700" lvl="0" indent="0" algn="ctr" rtl="0">
              <a:lnSpc>
                <a:spcPct val="25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rPr lang="en-US" b="1" dirty="0"/>
              <a:t>Nour Elsharkawy			221001458</a:t>
            </a:r>
          </a:p>
          <a:p>
            <a:pPr marL="139700" indent="0" algn="ctr">
              <a:lnSpc>
                <a:spcPct val="250000"/>
              </a:lnSpc>
              <a:spcAft>
                <a:spcPts val="600"/>
              </a:spcAft>
              <a:buSzPts val="1400"/>
              <a:buNone/>
            </a:pPr>
            <a:r>
              <a:rPr lang="en-US" b="1" dirty="0"/>
              <a:t>Youssef Zakaria Mansour		202001954	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738499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7E44A479-3878-D54C-6C9E-DE5F1A9CE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5CBA059F-754F-CA42-69A5-4E60E34F69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  <p:sp>
        <p:nvSpPr>
          <p:cNvPr id="330" name="Google Shape;330;p36">
            <a:extLst>
              <a:ext uri="{FF2B5EF4-FFF2-40B4-BE49-F238E27FC236}">
                <a16:creationId xmlns:a16="http://schemas.microsoft.com/office/drawing/2014/main" id="{C08E9CDD-E875-9A5C-A5C2-F623C6556C2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main idea of our project</a:t>
            </a:r>
            <a:endParaRPr dirty="0"/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857069F1-A479-64B9-0057-DFF39091AD0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7596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>
          <a:extLst>
            <a:ext uri="{FF2B5EF4-FFF2-40B4-BE49-F238E27FC236}">
              <a16:creationId xmlns:a16="http://schemas.microsoft.com/office/drawing/2014/main" id="{66E1EE48-6D61-6B5D-BCBB-8087F32B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>
            <a:extLst>
              <a:ext uri="{FF2B5EF4-FFF2-40B4-BE49-F238E27FC236}">
                <a16:creationId xmlns:a16="http://schemas.microsoft.com/office/drawing/2014/main" id="{5001BE78-D778-3400-2CEC-9F8C55DA5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Image Processing Algorithms</a:t>
            </a:r>
            <a:endParaRPr dirty="0"/>
          </a:p>
        </p:txBody>
      </p:sp>
      <p:sp>
        <p:nvSpPr>
          <p:cNvPr id="337" name="Google Shape;337;p37">
            <a:extLst>
              <a:ext uri="{FF2B5EF4-FFF2-40B4-BE49-F238E27FC236}">
                <a16:creationId xmlns:a16="http://schemas.microsoft.com/office/drawing/2014/main" id="{EED89884-9745-AADB-2D3F-5FA4019EEB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31050" y="1640569"/>
            <a:ext cx="6613200" cy="838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 we were tasked, we took upon improving </a:t>
            </a:r>
            <a:r>
              <a:rPr lang="en" b="1" dirty="0"/>
              <a:t>a previous project </a:t>
            </a:r>
            <a:r>
              <a:rPr lang="en" dirty="0"/>
              <a:t>of ours that showcased image processing algorithms. It used purely serial code and was perfect to test the auto-parallelization concept.</a:t>
            </a:r>
            <a:endParaRPr dirty="0"/>
          </a:p>
        </p:txBody>
      </p:sp>
      <p:sp>
        <p:nvSpPr>
          <p:cNvPr id="338" name="Google Shape;338;p37">
            <a:extLst>
              <a:ext uri="{FF2B5EF4-FFF2-40B4-BE49-F238E27FC236}">
                <a16:creationId xmlns:a16="http://schemas.microsoft.com/office/drawing/2014/main" id="{405ABA37-5EE4-D9B2-64D0-5C8629E3C33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731050" y="2800360"/>
            <a:ext cx="6613200" cy="6929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Serial image processing algorithms are notoriously slow and would really showcase the benefits of parallelization.</a:t>
            </a:r>
            <a:endParaRPr dirty="0"/>
          </a:p>
        </p:txBody>
      </p:sp>
      <p:sp>
        <p:nvSpPr>
          <p:cNvPr id="339" name="Google Shape;339;p37">
            <a:extLst>
              <a:ext uri="{FF2B5EF4-FFF2-40B4-BE49-F238E27FC236}">
                <a16:creationId xmlns:a16="http://schemas.microsoft.com/office/drawing/2014/main" id="{4372D7C5-57A4-9F36-E5F2-19EF4FC3F4E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731050" y="3957449"/>
            <a:ext cx="6613200" cy="657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speeding up of image processing algorithms is a sought-after improvement in nowadays digital ecosystem.</a:t>
            </a:r>
            <a:endParaRPr dirty="0"/>
          </a:p>
        </p:txBody>
      </p:sp>
      <p:sp>
        <p:nvSpPr>
          <p:cNvPr id="340" name="Google Shape;340;p37">
            <a:extLst>
              <a:ext uri="{FF2B5EF4-FFF2-40B4-BE49-F238E27FC236}">
                <a16:creationId xmlns:a16="http://schemas.microsoft.com/office/drawing/2014/main" id="{83959DA6-9A60-D69A-B252-4A0675C486E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 Existing Codebase</a:t>
            </a:r>
            <a:endParaRPr dirty="0"/>
          </a:p>
        </p:txBody>
      </p:sp>
      <p:sp>
        <p:nvSpPr>
          <p:cNvPr id="341" name="Google Shape;341;p37">
            <a:extLst>
              <a:ext uri="{FF2B5EF4-FFF2-40B4-BE49-F238E27FC236}">
                <a16:creationId xmlns:a16="http://schemas.microsoft.com/office/drawing/2014/main" id="{74DDC00B-700B-0C08-E9CF-06C2FFF90B7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Great Performance Differences</a:t>
            </a:r>
            <a:endParaRPr dirty="0"/>
          </a:p>
        </p:txBody>
      </p:sp>
      <p:sp>
        <p:nvSpPr>
          <p:cNvPr id="342" name="Google Shape;342;p37">
            <a:extLst>
              <a:ext uri="{FF2B5EF4-FFF2-40B4-BE49-F238E27FC236}">
                <a16:creationId xmlns:a16="http://schemas.microsoft.com/office/drawing/2014/main" id="{047F972B-A430-5667-11F7-AB1E4A3EEC43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Relevant Problem</a:t>
            </a:r>
            <a:endParaRPr dirty="0"/>
          </a:p>
        </p:txBody>
      </p:sp>
      <p:grpSp>
        <p:nvGrpSpPr>
          <p:cNvPr id="343" name="Google Shape;343;p37">
            <a:extLst>
              <a:ext uri="{FF2B5EF4-FFF2-40B4-BE49-F238E27FC236}">
                <a16:creationId xmlns:a16="http://schemas.microsoft.com/office/drawing/2014/main" id="{854E66AF-7A0E-D65C-C8C1-801EBB8F3FCC}"/>
              </a:ext>
            </a:extLst>
          </p:cNvPr>
          <p:cNvGrpSpPr/>
          <p:nvPr/>
        </p:nvGrpSpPr>
        <p:grpSpPr>
          <a:xfrm>
            <a:off x="1103963" y="3625800"/>
            <a:ext cx="345000" cy="343975"/>
            <a:chOff x="1799738" y="3074500"/>
            <a:chExt cx="345000" cy="343975"/>
          </a:xfrm>
        </p:grpSpPr>
        <p:sp>
          <p:nvSpPr>
            <p:cNvPr id="344" name="Google Shape;344;p37">
              <a:extLst>
                <a:ext uri="{FF2B5EF4-FFF2-40B4-BE49-F238E27FC236}">
                  <a16:creationId xmlns:a16="http://schemas.microsoft.com/office/drawing/2014/main" id="{355CEA54-1311-3379-4C32-267E2E6E8D86}"/>
                </a:ext>
              </a:extLst>
            </p:cNvPr>
            <p:cNvSpPr/>
            <p:nvPr/>
          </p:nvSpPr>
          <p:spPr>
            <a:xfrm>
              <a:off x="1799738" y="3272100"/>
              <a:ext cx="345000" cy="146375"/>
            </a:xfrm>
            <a:custGeom>
              <a:avLst/>
              <a:gdLst/>
              <a:ahLst/>
              <a:cxnLst/>
              <a:rect l="l" t="t" r="r" b="b"/>
              <a:pathLst>
                <a:path w="13800" h="5855" extrusionOk="0">
                  <a:moveTo>
                    <a:pt x="5424" y="595"/>
                  </a:moveTo>
                  <a:cubicBezTo>
                    <a:pt x="6070" y="595"/>
                    <a:pt x="6582" y="1149"/>
                    <a:pt x="6582" y="1795"/>
                  </a:cubicBezTo>
                  <a:lnTo>
                    <a:pt x="6582" y="2779"/>
                  </a:lnTo>
                  <a:cubicBezTo>
                    <a:pt x="6193" y="2523"/>
                    <a:pt x="5772" y="2389"/>
                    <a:pt x="5301" y="2389"/>
                  </a:cubicBezTo>
                  <a:lnTo>
                    <a:pt x="1067" y="2389"/>
                  </a:lnTo>
                  <a:lnTo>
                    <a:pt x="1067" y="1795"/>
                  </a:lnTo>
                  <a:cubicBezTo>
                    <a:pt x="1067" y="1497"/>
                    <a:pt x="1282" y="1241"/>
                    <a:pt x="1579" y="1241"/>
                  </a:cubicBezTo>
                  <a:cubicBezTo>
                    <a:pt x="2656" y="1241"/>
                    <a:pt x="3763" y="1067"/>
                    <a:pt x="4788" y="729"/>
                  </a:cubicBezTo>
                  <a:lnTo>
                    <a:pt x="4870" y="729"/>
                  </a:lnTo>
                  <a:cubicBezTo>
                    <a:pt x="5085" y="636"/>
                    <a:pt x="5219" y="595"/>
                    <a:pt x="5424" y="595"/>
                  </a:cubicBezTo>
                  <a:close/>
                  <a:moveTo>
                    <a:pt x="8417" y="595"/>
                  </a:moveTo>
                  <a:cubicBezTo>
                    <a:pt x="8591" y="595"/>
                    <a:pt x="8714" y="636"/>
                    <a:pt x="8930" y="729"/>
                  </a:cubicBezTo>
                  <a:lnTo>
                    <a:pt x="9012" y="729"/>
                  </a:lnTo>
                  <a:cubicBezTo>
                    <a:pt x="10037" y="1067"/>
                    <a:pt x="11113" y="1241"/>
                    <a:pt x="12220" y="1241"/>
                  </a:cubicBezTo>
                  <a:cubicBezTo>
                    <a:pt x="12518" y="1241"/>
                    <a:pt x="12733" y="1497"/>
                    <a:pt x="12733" y="1579"/>
                  </a:cubicBezTo>
                  <a:lnTo>
                    <a:pt x="12733" y="2389"/>
                  </a:lnTo>
                  <a:lnTo>
                    <a:pt x="8458" y="2389"/>
                  </a:lnTo>
                  <a:cubicBezTo>
                    <a:pt x="8038" y="2389"/>
                    <a:pt x="7566" y="2523"/>
                    <a:pt x="7177" y="2779"/>
                  </a:cubicBezTo>
                  <a:lnTo>
                    <a:pt x="7177" y="1795"/>
                  </a:lnTo>
                  <a:cubicBezTo>
                    <a:pt x="7177" y="1149"/>
                    <a:pt x="7730" y="595"/>
                    <a:pt x="8417" y="595"/>
                  </a:cubicBezTo>
                  <a:close/>
                  <a:moveTo>
                    <a:pt x="13205" y="2984"/>
                  </a:moveTo>
                  <a:lnTo>
                    <a:pt x="13205" y="4142"/>
                  </a:lnTo>
                  <a:lnTo>
                    <a:pt x="8243" y="4142"/>
                  </a:lnTo>
                  <a:cubicBezTo>
                    <a:pt x="7946" y="4142"/>
                    <a:pt x="7689" y="4358"/>
                    <a:pt x="7648" y="4655"/>
                  </a:cubicBezTo>
                  <a:cubicBezTo>
                    <a:pt x="7566" y="4993"/>
                    <a:pt x="7269" y="5290"/>
                    <a:pt x="6879" y="5290"/>
                  </a:cubicBezTo>
                  <a:cubicBezTo>
                    <a:pt x="6541" y="5290"/>
                    <a:pt x="6193" y="4993"/>
                    <a:pt x="6152" y="4655"/>
                  </a:cubicBezTo>
                  <a:cubicBezTo>
                    <a:pt x="6070" y="4358"/>
                    <a:pt x="5813" y="4142"/>
                    <a:pt x="5516" y="4142"/>
                  </a:cubicBezTo>
                  <a:lnTo>
                    <a:pt x="605" y="4142"/>
                  </a:lnTo>
                  <a:lnTo>
                    <a:pt x="605" y="2984"/>
                  </a:lnTo>
                  <a:lnTo>
                    <a:pt x="5301" y="2984"/>
                  </a:lnTo>
                  <a:cubicBezTo>
                    <a:pt x="5813" y="2984"/>
                    <a:pt x="6326" y="3199"/>
                    <a:pt x="6664" y="3548"/>
                  </a:cubicBezTo>
                  <a:cubicBezTo>
                    <a:pt x="6731" y="3609"/>
                    <a:pt x="6818" y="3640"/>
                    <a:pt x="6899" y="3640"/>
                  </a:cubicBezTo>
                  <a:cubicBezTo>
                    <a:pt x="6979" y="3640"/>
                    <a:pt x="7054" y="3609"/>
                    <a:pt x="7095" y="3548"/>
                  </a:cubicBezTo>
                  <a:cubicBezTo>
                    <a:pt x="7474" y="3199"/>
                    <a:pt x="7987" y="2984"/>
                    <a:pt x="8499" y="2984"/>
                  </a:cubicBezTo>
                  <a:close/>
                  <a:moveTo>
                    <a:pt x="5383" y="1"/>
                  </a:moveTo>
                  <a:cubicBezTo>
                    <a:pt x="5085" y="1"/>
                    <a:pt x="4870" y="83"/>
                    <a:pt x="4655" y="124"/>
                  </a:cubicBezTo>
                  <a:cubicBezTo>
                    <a:pt x="4614" y="165"/>
                    <a:pt x="4614" y="165"/>
                    <a:pt x="4573" y="165"/>
                  </a:cubicBezTo>
                  <a:cubicBezTo>
                    <a:pt x="3589" y="513"/>
                    <a:pt x="2605" y="636"/>
                    <a:pt x="1579" y="636"/>
                  </a:cubicBezTo>
                  <a:cubicBezTo>
                    <a:pt x="985" y="636"/>
                    <a:pt x="472" y="1149"/>
                    <a:pt x="472" y="1795"/>
                  </a:cubicBezTo>
                  <a:lnTo>
                    <a:pt x="472" y="2389"/>
                  </a:lnTo>
                  <a:lnTo>
                    <a:pt x="298" y="2389"/>
                  </a:lnTo>
                  <a:cubicBezTo>
                    <a:pt x="134" y="2389"/>
                    <a:pt x="1" y="2564"/>
                    <a:pt x="1" y="2687"/>
                  </a:cubicBezTo>
                  <a:lnTo>
                    <a:pt x="1" y="4440"/>
                  </a:lnTo>
                  <a:cubicBezTo>
                    <a:pt x="1" y="4614"/>
                    <a:pt x="134" y="4737"/>
                    <a:pt x="298" y="4737"/>
                  </a:cubicBezTo>
                  <a:lnTo>
                    <a:pt x="5516" y="4737"/>
                  </a:lnTo>
                  <a:cubicBezTo>
                    <a:pt x="5557" y="4737"/>
                    <a:pt x="5557" y="4737"/>
                    <a:pt x="5557" y="4778"/>
                  </a:cubicBezTo>
                  <a:cubicBezTo>
                    <a:pt x="5680" y="5424"/>
                    <a:pt x="6244" y="5854"/>
                    <a:pt x="6879" y="5854"/>
                  </a:cubicBezTo>
                  <a:cubicBezTo>
                    <a:pt x="7566" y="5854"/>
                    <a:pt x="8120" y="5424"/>
                    <a:pt x="8243" y="4778"/>
                  </a:cubicBezTo>
                  <a:lnTo>
                    <a:pt x="8243" y="4737"/>
                  </a:lnTo>
                  <a:lnTo>
                    <a:pt x="13502" y="4737"/>
                  </a:lnTo>
                  <a:cubicBezTo>
                    <a:pt x="13625" y="4737"/>
                    <a:pt x="13799" y="4614"/>
                    <a:pt x="13799" y="4440"/>
                  </a:cubicBezTo>
                  <a:lnTo>
                    <a:pt x="13799" y="2687"/>
                  </a:lnTo>
                  <a:cubicBezTo>
                    <a:pt x="13799" y="2564"/>
                    <a:pt x="13625" y="2389"/>
                    <a:pt x="13502" y="2389"/>
                  </a:cubicBezTo>
                  <a:lnTo>
                    <a:pt x="13287" y="2389"/>
                  </a:lnTo>
                  <a:lnTo>
                    <a:pt x="13287" y="1579"/>
                  </a:lnTo>
                  <a:cubicBezTo>
                    <a:pt x="13287" y="1364"/>
                    <a:pt x="13205" y="1190"/>
                    <a:pt x="13030" y="1026"/>
                  </a:cubicBezTo>
                  <a:cubicBezTo>
                    <a:pt x="12815" y="811"/>
                    <a:pt x="12477" y="636"/>
                    <a:pt x="12179" y="636"/>
                  </a:cubicBezTo>
                  <a:cubicBezTo>
                    <a:pt x="11154" y="636"/>
                    <a:pt x="10170" y="513"/>
                    <a:pt x="9186" y="165"/>
                  </a:cubicBezTo>
                  <a:cubicBezTo>
                    <a:pt x="9145" y="165"/>
                    <a:pt x="9145" y="165"/>
                    <a:pt x="9104" y="124"/>
                  </a:cubicBezTo>
                  <a:cubicBezTo>
                    <a:pt x="8889" y="83"/>
                    <a:pt x="8673" y="1"/>
                    <a:pt x="8376" y="1"/>
                  </a:cubicBezTo>
                  <a:cubicBezTo>
                    <a:pt x="7782" y="1"/>
                    <a:pt x="7218" y="339"/>
                    <a:pt x="6879" y="811"/>
                  </a:cubicBezTo>
                  <a:cubicBezTo>
                    <a:pt x="6582" y="339"/>
                    <a:pt x="6028" y="1"/>
                    <a:pt x="538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7">
              <a:extLst>
                <a:ext uri="{FF2B5EF4-FFF2-40B4-BE49-F238E27FC236}">
                  <a16:creationId xmlns:a16="http://schemas.microsoft.com/office/drawing/2014/main" id="{BEC3FC19-9A5B-DAFF-4B1B-813D2B4037D2}"/>
                </a:ext>
              </a:extLst>
            </p:cNvPr>
            <p:cNvSpPr/>
            <p:nvPr/>
          </p:nvSpPr>
          <p:spPr>
            <a:xfrm>
              <a:off x="2062438" y="3124750"/>
              <a:ext cx="37450" cy="14875"/>
            </a:xfrm>
            <a:custGeom>
              <a:avLst/>
              <a:gdLst/>
              <a:ahLst/>
              <a:cxnLst/>
              <a:rect l="l" t="t" r="r" b="b"/>
              <a:pathLst>
                <a:path w="1498" h="595" extrusionOk="0">
                  <a:moveTo>
                    <a:pt x="349" y="0"/>
                  </a:moveTo>
                  <a:cubicBezTo>
                    <a:pt x="134" y="0"/>
                    <a:pt x="0" y="164"/>
                    <a:pt x="41" y="338"/>
                  </a:cubicBezTo>
                  <a:cubicBezTo>
                    <a:pt x="41" y="472"/>
                    <a:pt x="175" y="595"/>
                    <a:pt x="349" y="595"/>
                  </a:cubicBezTo>
                  <a:lnTo>
                    <a:pt x="1200" y="595"/>
                  </a:lnTo>
                  <a:cubicBezTo>
                    <a:pt x="1374" y="595"/>
                    <a:pt x="1497" y="420"/>
                    <a:pt x="1497" y="256"/>
                  </a:cubicBezTo>
                  <a:cubicBezTo>
                    <a:pt x="1497" y="123"/>
                    <a:pt x="1323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7">
              <a:extLst>
                <a:ext uri="{FF2B5EF4-FFF2-40B4-BE49-F238E27FC236}">
                  <a16:creationId xmlns:a16="http://schemas.microsoft.com/office/drawing/2014/main" id="{5C3E9C1F-D7CF-7F82-E95F-0AAD51081EDC}"/>
                </a:ext>
              </a:extLst>
            </p:cNvPr>
            <p:cNvSpPr/>
            <p:nvPr/>
          </p:nvSpPr>
          <p:spPr>
            <a:xfrm>
              <a:off x="2050638" y="3074725"/>
              <a:ext cx="39750" cy="26450"/>
            </a:xfrm>
            <a:custGeom>
              <a:avLst/>
              <a:gdLst/>
              <a:ahLst/>
              <a:cxnLst/>
              <a:rect l="l" t="t" r="r" b="b"/>
              <a:pathLst>
                <a:path w="1590" h="1058" extrusionOk="0">
                  <a:moveTo>
                    <a:pt x="1229" y="0"/>
                  </a:moveTo>
                  <a:cubicBezTo>
                    <a:pt x="1190" y="0"/>
                    <a:pt x="1152" y="10"/>
                    <a:pt x="1118" y="33"/>
                  </a:cubicBezTo>
                  <a:lnTo>
                    <a:pt x="216" y="504"/>
                  </a:lnTo>
                  <a:cubicBezTo>
                    <a:pt x="93" y="586"/>
                    <a:pt x="1" y="761"/>
                    <a:pt x="93" y="884"/>
                  </a:cubicBezTo>
                  <a:cubicBezTo>
                    <a:pt x="134" y="1017"/>
                    <a:pt x="257" y="1058"/>
                    <a:pt x="349" y="1058"/>
                  </a:cubicBezTo>
                  <a:cubicBezTo>
                    <a:pt x="390" y="1058"/>
                    <a:pt x="431" y="1058"/>
                    <a:pt x="513" y="1017"/>
                  </a:cubicBezTo>
                  <a:lnTo>
                    <a:pt x="1375" y="545"/>
                  </a:lnTo>
                  <a:cubicBezTo>
                    <a:pt x="1498" y="504"/>
                    <a:pt x="1590" y="289"/>
                    <a:pt x="1498" y="166"/>
                  </a:cubicBezTo>
                  <a:cubicBezTo>
                    <a:pt x="1438" y="70"/>
                    <a:pt x="1331" y="0"/>
                    <a:pt x="1229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7">
              <a:extLst>
                <a:ext uri="{FF2B5EF4-FFF2-40B4-BE49-F238E27FC236}">
                  <a16:creationId xmlns:a16="http://schemas.microsoft.com/office/drawing/2014/main" id="{05FD73C2-5F9A-1318-C32E-68F4DA349F1B}"/>
                </a:ext>
              </a:extLst>
            </p:cNvPr>
            <p:cNvSpPr/>
            <p:nvPr/>
          </p:nvSpPr>
          <p:spPr>
            <a:xfrm>
              <a:off x="2050638" y="3163175"/>
              <a:ext cx="39750" cy="25650"/>
            </a:xfrm>
            <a:custGeom>
              <a:avLst/>
              <a:gdLst/>
              <a:ahLst/>
              <a:cxnLst/>
              <a:rect l="l" t="t" r="r" b="b"/>
              <a:pathLst>
                <a:path w="1590" h="1026" extrusionOk="0">
                  <a:moveTo>
                    <a:pt x="338" y="1"/>
                  </a:moveTo>
                  <a:cubicBezTo>
                    <a:pt x="243" y="1"/>
                    <a:pt x="148" y="55"/>
                    <a:pt x="93" y="165"/>
                  </a:cubicBezTo>
                  <a:cubicBezTo>
                    <a:pt x="1" y="298"/>
                    <a:pt x="93" y="472"/>
                    <a:pt x="216" y="554"/>
                  </a:cubicBezTo>
                  <a:lnTo>
                    <a:pt x="1118" y="985"/>
                  </a:lnTo>
                  <a:cubicBezTo>
                    <a:pt x="1159" y="1026"/>
                    <a:pt x="1200" y="1026"/>
                    <a:pt x="1241" y="1026"/>
                  </a:cubicBezTo>
                  <a:cubicBezTo>
                    <a:pt x="1334" y="1026"/>
                    <a:pt x="1457" y="985"/>
                    <a:pt x="1498" y="852"/>
                  </a:cubicBezTo>
                  <a:cubicBezTo>
                    <a:pt x="1590" y="729"/>
                    <a:pt x="1498" y="554"/>
                    <a:pt x="1375" y="472"/>
                  </a:cubicBezTo>
                  <a:lnTo>
                    <a:pt x="472" y="42"/>
                  </a:lnTo>
                  <a:cubicBezTo>
                    <a:pt x="431" y="14"/>
                    <a:pt x="385" y="1"/>
                    <a:pt x="33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7">
              <a:extLst>
                <a:ext uri="{FF2B5EF4-FFF2-40B4-BE49-F238E27FC236}">
                  <a16:creationId xmlns:a16="http://schemas.microsoft.com/office/drawing/2014/main" id="{DE714E2C-1F40-A9ED-8C3D-08D5F2E2CBA1}"/>
                </a:ext>
              </a:extLst>
            </p:cNvPr>
            <p:cNvSpPr/>
            <p:nvPr/>
          </p:nvSpPr>
          <p:spPr>
            <a:xfrm>
              <a:off x="1843563" y="3124750"/>
              <a:ext cx="37450" cy="14875"/>
            </a:xfrm>
            <a:custGeom>
              <a:avLst/>
              <a:gdLst/>
              <a:ahLst/>
              <a:cxnLst/>
              <a:rect l="l" t="t" r="r" b="b"/>
              <a:pathLst>
                <a:path w="1498" h="595" extrusionOk="0">
                  <a:moveTo>
                    <a:pt x="339" y="0"/>
                  </a:moveTo>
                  <a:cubicBezTo>
                    <a:pt x="134" y="0"/>
                    <a:pt x="1" y="164"/>
                    <a:pt x="42" y="338"/>
                  </a:cubicBezTo>
                  <a:cubicBezTo>
                    <a:pt x="42" y="472"/>
                    <a:pt x="175" y="595"/>
                    <a:pt x="339" y="595"/>
                  </a:cubicBezTo>
                  <a:lnTo>
                    <a:pt x="1200" y="595"/>
                  </a:lnTo>
                  <a:cubicBezTo>
                    <a:pt x="1364" y="595"/>
                    <a:pt x="1497" y="420"/>
                    <a:pt x="1497" y="256"/>
                  </a:cubicBezTo>
                  <a:cubicBezTo>
                    <a:pt x="1497" y="123"/>
                    <a:pt x="1364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7">
              <a:extLst>
                <a:ext uri="{FF2B5EF4-FFF2-40B4-BE49-F238E27FC236}">
                  <a16:creationId xmlns:a16="http://schemas.microsoft.com/office/drawing/2014/main" id="{FC06E142-B24D-091B-45BD-2F12DDBDE5C9}"/>
                </a:ext>
              </a:extLst>
            </p:cNvPr>
            <p:cNvSpPr/>
            <p:nvPr/>
          </p:nvSpPr>
          <p:spPr>
            <a:xfrm>
              <a:off x="1854338" y="3074725"/>
              <a:ext cx="38450" cy="26450"/>
            </a:xfrm>
            <a:custGeom>
              <a:avLst/>
              <a:gdLst/>
              <a:ahLst/>
              <a:cxnLst/>
              <a:rect l="l" t="t" r="r" b="b"/>
              <a:pathLst>
                <a:path w="1538" h="1058" extrusionOk="0">
                  <a:moveTo>
                    <a:pt x="355" y="0"/>
                  </a:moveTo>
                  <a:cubicBezTo>
                    <a:pt x="249" y="0"/>
                    <a:pt x="142" y="70"/>
                    <a:pt x="82" y="166"/>
                  </a:cubicBezTo>
                  <a:cubicBezTo>
                    <a:pt x="0" y="289"/>
                    <a:pt x="41" y="504"/>
                    <a:pt x="215" y="545"/>
                  </a:cubicBezTo>
                  <a:lnTo>
                    <a:pt x="1066" y="1017"/>
                  </a:lnTo>
                  <a:cubicBezTo>
                    <a:pt x="1107" y="1058"/>
                    <a:pt x="1148" y="1058"/>
                    <a:pt x="1189" y="1058"/>
                  </a:cubicBezTo>
                  <a:cubicBezTo>
                    <a:pt x="1323" y="1058"/>
                    <a:pt x="1405" y="1017"/>
                    <a:pt x="1497" y="884"/>
                  </a:cubicBezTo>
                  <a:cubicBezTo>
                    <a:pt x="1538" y="761"/>
                    <a:pt x="1497" y="586"/>
                    <a:pt x="1364" y="504"/>
                  </a:cubicBezTo>
                  <a:lnTo>
                    <a:pt x="472" y="33"/>
                  </a:lnTo>
                  <a:cubicBezTo>
                    <a:pt x="435" y="10"/>
                    <a:pt x="395" y="0"/>
                    <a:pt x="35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7">
              <a:extLst>
                <a:ext uri="{FF2B5EF4-FFF2-40B4-BE49-F238E27FC236}">
                  <a16:creationId xmlns:a16="http://schemas.microsoft.com/office/drawing/2014/main" id="{CA108646-B893-BF48-AC82-49B6D01593B0}"/>
                </a:ext>
              </a:extLst>
            </p:cNvPr>
            <p:cNvSpPr/>
            <p:nvPr/>
          </p:nvSpPr>
          <p:spPr>
            <a:xfrm>
              <a:off x="1854338" y="3163175"/>
              <a:ext cx="38450" cy="25650"/>
            </a:xfrm>
            <a:custGeom>
              <a:avLst/>
              <a:gdLst/>
              <a:ahLst/>
              <a:cxnLst/>
              <a:rect l="l" t="t" r="r" b="b"/>
              <a:pathLst>
                <a:path w="1538" h="1026" extrusionOk="0">
                  <a:moveTo>
                    <a:pt x="1235" y="1"/>
                  </a:moveTo>
                  <a:cubicBezTo>
                    <a:pt x="1181" y="1"/>
                    <a:pt x="1124" y="14"/>
                    <a:pt x="1066" y="42"/>
                  </a:cubicBezTo>
                  <a:lnTo>
                    <a:pt x="215" y="472"/>
                  </a:lnTo>
                  <a:cubicBezTo>
                    <a:pt x="41" y="554"/>
                    <a:pt x="0" y="729"/>
                    <a:pt x="82" y="852"/>
                  </a:cubicBezTo>
                  <a:cubicBezTo>
                    <a:pt x="123" y="985"/>
                    <a:pt x="215" y="1026"/>
                    <a:pt x="338" y="1026"/>
                  </a:cubicBezTo>
                  <a:cubicBezTo>
                    <a:pt x="379" y="1026"/>
                    <a:pt x="421" y="1026"/>
                    <a:pt x="472" y="985"/>
                  </a:cubicBezTo>
                  <a:lnTo>
                    <a:pt x="1364" y="554"/>
                  </a:lnTo>
                  <a:cubicBezTo>
                    <a:pt x="1497" y="472"/>
                    <a:pt x="1538" y="298"/>
                    <a:pt x="1497" y="165"/>
                  </a:cubicBezTo>
                  <a:cubicBezTo>
                    <a:pt x="1435" y="55"/>
                    <a:pt x="1342" y="1"/>
                    <a:pt x="123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7">
              <a:extLst>
                <a:ext uri="{FF2B5EF4-FFF2-40B4-BE49-F238E27FC236}">
                  <a16:creationId xmlns:a16="http://schemas.microsoft.com/office/drawing/2014/main" id="{56E354BE-9C7E-5CCD-2D58-6465302507FD}"/>
                </a:ext>
              </a:extLst>
            </p:cNvPr>
            <p:cNvSpPr/>
            <p:nvPr/>
          </p:nvSpPr>
          <p:spPr>
            <a:xfrm>
              <a:off x="1916088" y="3074500"/>
              <a:ext cx="113300" cy="174100"/>
            </a:xfrm>
            <a:custGeom>
              <a:avLst/>
              <a:gdLst/>
              <a:ahLst/>
              <a:cxnLst/>
              <a:rect l="l" t="t" r="r" b="b"/>
              <a:pathLst>
                <a:path w="4532" h="6964" extrusionOk="0">
                  <a:moveTo>
                    <a:pt x="2225" y="595"/>
                  </a:moveTo>
                  <a:cubicBezTo>
                    <a:pt x="3169" y="595"/>
                    <a:pt x="3937" y="1364"/>
                    <a:pt x="3937" y="2307"/>
                  </a:cubicBezTo>
                  <a:cubicBezTo>
                    <a:pt x="3937" y="2687"/>
                    <a:pt x="3804" y="3035"/>
                    <a:pt x="3548" y="3333"/>
                  </a:cubicBezTo>
                  <a:cubicBezTo>
                    <a:pt x="3210" y="3763"/>
                    <a:pt x="2994" y="4276"/>
                    <a:pt x="2871" y="4870"/>
                  </a:cubicBezTo>
                  <a:lnTo>
                    <a:pt x="1631" y="4870"/>
                  </a:lnTo>
                  <a:cubicBezTo>
                    <a:pt x="1498" y="4317"/>
                    <a:pt x="1282" y="3804"/>
                    <a:pt x="903" y="3333"/>
                  </a:cubicBezTo>
                  <a:cubicBezTo>
                    <a:pt x="688" y="3035"/>
                    <a:pt x="565" y="2687"/>
                    <a:pt x="565" y="2307"/>
                  </a:cubicBezTo>
                  <a:cubicBezTo>
                    <a:pt x="565" y="1364"/>
                    <a:pt x="1333" y="595"/>
                    <a:pt x="2225" y="595"/>
                  </a:cubicBezTo>
                  <a:close/>
                  <a:moveTo>
                    <a:pt x="2820" y="5424"/>
                  </a:moveTo>
                  <a:lnTo>
                    <a:pt x="2820" y="5813"/>
                  </a:lnTo>
                  <a:cubicBezTo>
                    <a:pt x="2820" y="6111"/>
                    <a:pt x="2564" y="6367"/>
                    <a:pt x="2266" y="6367"/>
                  </a:cubicBezTo>
                  <a:cubicBezTo>
                    <a:pt x="1928" y="6367"/>
                    <a:pt x="1672" y="6111"/>
                    <a:pt x="1672" y="5813"/>
                  </a:cubicBezTo>
                  <a:lnTo>
                    <a:pt x="1672" y="5424"/>
                  </a:lnTo>
                  <a:close/>
                  <a:moveTo>
                    <a:pt x="2225" y="1"/>
                  </a:moveTo>
                  <a:cubicBezTo>
                    <a:pt x="1631" y="1"/>
                    <a:pt x="1077" y="257"/>
                    <a:pt x="647" y="688"/>
                  </a:cubicBezTo>
                  <a:cubicBezTo>
                    <a:pt x="216" y="1108"/>
                    <a:pt x="1" y="1713"/>
                    <a:pt x="1" y="2307"/>
                  </a:cubicBezTo>
                  <a:cubicBezTo>
                    <a:pt x="1" y="2820"/>
                    <a:pt x="134" y="3292"/>
                    <a:pt x="472" y="3671"/>
                  </a:cubicBezTo>
                  <a:cubicBezTo>
                    <a:pt x="770" y="4101"/>
                    <a:pt x="985" y="4614"/>
                    <a:pt x="1077" y="5086"/>
                  </a:cubicBezTo>
                  <a:lnTo>
                    <a:pt x="1077" y="5168"/>
                  </a:lnTo>
                  <a:lnTo>
                    <a:pt x="1077" y="5762"/>
                  </a:lnTo>
                  <a:cubicBezTo>
                    <a:pt x="1077" y="6425"/>
                    <a:pt x="1593" y="6964"/>
                    <a:pt x="2237" y="6964"/>
                  </a:cubicBezTo>
                  <a:cubicBezTo>
                    <a:pt x="2260" y="6964"/>
                    <a:pt x="2284" y="6963"/>
                    <a:pt x="2307" y="6962"/>
                  </a:cubicBezTo>
                  <a:cubicBezTo>
                    <a:pt x="2953" y="6921"/>
                    <a:pt x="3425" y="6408"/>
                    <a:pt x="3425" y="5813"/>
                  </a:cubicBezTo>
                  <a:lnTo>
                    <a:pt x="3425" y="5168"/>
                  </a:lnTo>
                  <a:lnTo>
                    <a:pt x="3425" y="5127"/>
                  </a:lnTo>
                  <a:cubicBezTo>
                    <a:pt x="3507" y="4614"/>
                    <a:pt x="3722" y="4101"/>
                    <a:pt x="4019" y="3712"/>
                  </a:cubicBezTo>
                  <a:cubicBezTo>
                    <a:pt x="4358" y="3292"/>
                    <a:pt x="4532" y="2820"/>
                    <a:pt x="4532" y="2307"/>
                  </a:cubicBezTo>
                  <a:cubicBezTo>
                    <a:pt x="4532" y="1713"/>
                    <a:pt x="4276" y="1108"/>
                    <a:pt x="3845" y="688"/>
                  </a:cubicBezTo>
                  <a:cubicBezTo>
                    <a:pt x="3425" y="257"/>
                    <a:pt x="2871" y="1"/>
                    <a:pt x="2266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37">
            <a:extLst>
              <a:ext uri="{FF2B5EF4-FFF2-40B4-BE49-F238E27FC236}">
                <a16:creationId xmlns:a16="http://schemas.microsoft.com/office/drawing/2014/main" id="{D23FFB11-EA43-56E7-1A5F-3BEE23BAB17E}"/>
              </a:ext>
            </a:extLst>
          </p:cNvPr>
          <p:cNvGrpSpPr/>
          <p:nvPr/>
        </p:nvGrpSpPr>
        <p:grpSpPr>
          <a:xfrm>
            <a:off x="1104613" y="1334613"/>
            <a:ext cx="343700" cy="343725"/>
            <a:chOff x="5493613" y="1976825"/>
            <a:chExt cx="343700" cy="343725"/>
          </a:xfrm>
        </p:grpSpPr>
        <p:sp>
          <p:nvSpPr>
            <p:cNvPr id="362" name="Google Shape;362;p37">
              <a:extLst>
                <a:ext uri="{FF2B5EF4-FFF2-40B4-BE49-F238E27FC236}">
                  <a16:creationId xmlns:a16="http://schemas.microsoft.com/office/drawing/2014/main" id="{2708CAA1-8572-AF6E-19B3-01E801FD4004}"/>
                </a:ext>
              </a:extLst>
            </p:cNvPr>
            <p:cNvSpPr/>
            <p:nvPr/>
          </p:nvSpPr>
          <p:spPr>
            <a:xfrm>
              <a:off x="5493613" y="1976825"/>
              <a:ext cx="343700" cy="255050"/>
            </a:xfrm>
            <a:custGeom>
              <a:avLst/>
              <a:gdLst/>
              <a:ahLst/>
              <a:cxnLst/>
              <a:rect l="l" t="t" r="r" b="b"/>
              <a:pathLst>
                <a:path w="13748" h="10202" extrusionOk="0">
                  <a:moveTo>
                    <a:pt x="298" y="1"/>
                  </a:moveTo>
                  <a:cubicBezTo>
                    <a:pt x="123" y="1"/>
                    <a:pt x="0" y="124"/>
                    <a:pt x="0" y="257"/>
                  </a:cubicBezTo>
                  <a:lnTo>
                    <a:pt x="0" y="8202"/>
                  </a:lnTo>
                  <a:lnTo>
                    <a:pt x="0" y="9945"/>
                  </a:lnTo>
                  <a:cubicBezTo>
                    <a:pt x="0" y="10078"/>
                    <a:pt x="123" y="10201"/>
                    <a:pt x="298" y="10201"/>
                  </a:cubicBezTo>
                  <a:lnTo>
                    <a:pt x="4265" y="10201"/>
                  </a:lnTo>
                  <a:lnTo>
                    <a:pt x="4265" y="9647"/>
                  </a:lnTo>
                  <a:lnTo>
                    <a:pt x="595" y="9647"/>
                  </a:lnTo>
                  <a:lnTo>
                    <a:pt x="595" y="8499"/>
                  </a:lnTo>
                  <a:lnTo>
                    <a:pt x="4614" y="8499"/>
                  </a:lnTo>
                  <a:lnTo>
                    <a:pt x="4614" y="7894"/>
                  </a:lnTo>
                  <a:lnTo>
                    <a:pt x="595" y="7894"/>
                  </a:lnTo>
                  <a:lnTo>
                    <a:pt x="595" y="554"/>
                  </a:lnTo>
                  <a:lnTo>
                    <a:pt x="5126" y="554"/>
                  </a:lnTo>
                  <a:cubicBezTo>
                    <a:pt x="5680" y="554"/>
                    <a:pt x="6233" y="811"/>
                    <a:pt x="6572" y="1231"/>
                  </a:cubicBezTo>
                  <a:lnTo>
                    <a:pt x="6572" y="6869"/>
                  </a:lnTo>
                  <a:lnTo>
                    <a:pt x="7176" y="6869"/>
                  </a:lnTo>
                  <a:lnTo>
                    <a:pt x="7176" y="1231"/>
                  </a:lnTo>
                  <a:cubicBezTo>
                    <a:pt x="7515" y="811"/>
                    <a:pt x="8068" y="554"/>
                    <a:pt x="8622" y="554"/>
                  </a:cubicBezTo>
                  <a:lnTo>
                    <a:pt x="13153" y="554"/>
                  </a:lnTo>
                  <a:lnTo>
                    <a:pt x="13153" y="7894"/>
                  </a:lnTo>
                  <a:lnTo>
                    <a:pt x="9134" y="7894"/>
                  </a:lnTo>
                  <a:lnTo>
                    <a:pt x="9134" y="8499"/>
                  </a:lnTo>
                  <a:lnTo>
                    <a:pt x="13153" y="8499"/>
                  </a:lnTo>
                  <a:lnTo>
                    <a:pt x="13153" y="9647"/>
                  </a:lnTo>
                  <a:lnTo>
                    <a:pt x="9442" y="9647"/>
                  </a:lnTo>
                  <a:lnTo>
                    <a:pt x="9442" y="10201"/>
                  </a:lnTo>
                  <a:lnTo>
                    <a:pt x="13450" y="10201"/>
                  </a:lnTo>
                  <a:cubicBezTo>
                    <a:pt x="13625" y="10201"/>
                    <a:pt x="13748" y="10078"/>
                    <a:pt x="13748" y="9945"/>
                  </a:cubicBezTo>
                  <a:lnTo>
                    <a:pt x="13748" y="8202"/>
                  </a:lnTo>
                  <a:lnTo>
                    <a:pt x="13748" y="257"/>
                  </a:lnTo>
                  <a:cubicBezTo>
                    <a:pt x="13748" y="124"/>
                    <a:pt x="13625" y="1"/>
                    <a:pt x="13450" y="1"/>
                  </a:cubicBezTo>
                  <a:lnTo>
                    <a:pt x="8622" y="1"/>
                  </a:lnTo>
                  <a:cubicBezTo>
                    <a:pt x="7986" y="1"/>
                    <a:pt x="7340" y="257"/>
                    <a:pt x="6879" y="677"/>
                  </a:cubicBezTo>
                  <a:cubicBezTo>
                    <a:pt x="6408" y="257"/>
                    <a:pt x="576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7">
              <a:extLst>
                <a:ext uri="{FF2B5EF4-FFF2-40B4-BE49-F238E27FC236}">
                  <a16:creationId xmlns:a16="http://schemas.microsoft.com/office/drawing/2014/main" id="{88AB773E-A21B-0CE5-8992-DA01229FFE71}"/>
                </a:ext>
              </a:extLst>
            </p:cNvPr>
            <p:cNvSpPr/>
            <p:nvPr/>
          </p:nvSpPr>
          <p:spPr>
            <a:xfrm>
              <a:off x="5701713" y="2026800"/>
              <a:ext cx="92025" cy="15150"/>
            </a:xfrm>
            <a:custGeom>
              <a:avLst/>
              <a:gdLst/>
              <a:ahLst/>
              <a:cxnLst/>
              <a:rect l="l" t="t" r="r" b="b"/>
              <a:pathLst>
                <a:path w="3681" h="606" extrusionOk="0">
                  <a:moveTo>
                    <a:pt x="29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42" y="513"/>
                    <a:pt x="175" y="606"/>
                    <a:pt x="298" y="606"/>
                  </a:cubicBezTo>
                  <a:lnTo>
                    <a:pt x="3373" y="606"/>
                  </a:lnTo>
                  <a:cubicBezTo>
                    <a:pt x="3548" y="606"/>
                    <a:pt x="3681" y="472"/>
                    <a:pt x="3681" y="257"/>
                  </a:cubicBezTo>
                  <a:cubicBezTo>
                    <a:pt x="3630" y="134"/>
                    <a:pt x="3507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7">
              <a:extLst>
                <a:ext uri="{FF2B5EF4-FFF2-40B4-BE49-F238E27FC236}">
                  <a16:creationId xmlns:a16="http://schemas.microsoft.com/office/drawing/2014/main" id="{9ECE5713-E1AE-9B56-9819-9C4EC282B04A}"/>
                </a:ext>
              </a:extLst>
            </p:cNvPr>
            <p:cNvSpPr/>
            <p:nvPr/>
          </p:nvSpPr>
          <p:spPr>
            <a:xfrm>
              <a:off x="5537438" y="2026800"/>
              <a:ext cx="92800" cy="15150"/>
            </a:xfrm>
            <a:custGeom>
              <a:avLst/>
              <a:gdLst/>
              <a:ahLst/>
              <a:cxnLst/>
              <a:rect l="l" t="t" r="r" b="b"/>
              <a:pathLst>
                <a:path w="3712" h="606" extrusionOk="0">
                  <a:moveTo>
                    <a:pt x="298" y="1"/>
                  </a:moveTo>
                  <a:cubicBezTo>
                    <a:pt x="123" y="1"/>
                    <a:pt x="0" y="175"/>
                    <a:pt x="41" y="349"/>
                  </a:cubicBezTo>
                  <a:cubicBezTo>
                    <a:pt x="41" y="513"/>
                    <a:pt x="164" y="606"/>
                    <a:pt x="339" y="606"/>
                  </a:cubicBezTo>
                  <a:lnTo>
                    <a:pt x="3373" y="606"/>
                  </a:lnTo>
                  <a:cubicBezTo>
                    <a:pt x="3537" y="606"/>
                    <a:pt x="3711" y="472"/>
                    <a:pt x="3670" y="257"/>
                  </a:cubicBezTo>
                  <a:cubicBezTo>
                    <a:pt x="3629" y="134"/>
                    <a:pt x="3496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7">
              <a:extLst>
                <a:ext uri="{FF2B5EF4-FFF2-40B4-BE49-F238E27FC236}">
                  <a16:creationId xmlns:a16="http://schemas.microsoft.com/office/drawing/2014/main" id="{F602705E-C6E9-40B6-10B3-F4BFD0DFC6D8}"/>
                </a:ext>
              </a:extLst>
            </p:cNvPr>
            <p:cNvSpPr/>
            <p:nvPr/>
          </p:nvSpPr>
          <p:spPr>
            <a:xfrm>
              <a:off x="5537438" y="2076025"/>
              <a:ext cx="92800" cy="14875"/>
            </a:xfrm>
            <a:custGeom>
              <a:avLst/>
              <a:gdLst/>
              <a:ahLst/>
              <a:cxnLst/>
              <a:rect l="l" t="t" r="r" b="b"/>
              <a:pathLst>
                <a:path w="3712" h="595" extrusionOk="0">
                  <a:moveTo>
                    <a:pt x="298" y="0"/>
                  </a:moveTo>
                  <a:cubicBezTo>
                    <a:pt x="123" y="0"/>
                    <a:pt x="0" y="174"/>
                    <a:pt x="41" y="338"/>
                  </a:cubicBezTo>
                  <a:cubicBezTo>
                    <a:pt x="41" y="513"/>
                    <a:pt x="164" y="595"/>
                    <a:pt x="339" y="595"/>
                  </a:cubicBezTo>
                  <a:lnTo>
                    <a:pt x="3373" y="595"/>
                  </a:lnTo>
                  <a:cubicBezTo>
                    <a:pt x="3537" y="595"/>
                    <a:pt x="3711" y="431"/>
                    <a:pt x="3670" y="256"/>
                  </a:cubicBezTo>
                  <a:cubicBezTo>
                    <a:pt x="3629" y="133"/>
                    <a:pt x="3496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7">
              <a:extLst>
                <a:ext uri="{FF2B5EF4-FFF2-40B4-BE49-F238E27FC236}">
                  <a16:creationId xmlns:a16="http://schemas.microsoft.com/office/drawing/2014/main" id="{6AAF97AD-295F-DD54-B0F9-61EE4BAC2BB1}"/>
                </a:ext>
              </a:extLst>
            </p:cNvPr>
            <p:cNvSpPr/>
            <p:nvPr/>
          </p:nvSpPr>
          <p:spPr>
            <a:xfrm>
              <a:off x="5537438" y="2125225"/>
              <a:ext cx="48975" cy="14900"/>
            </a:xfrm>
            <a:custGeom>
              <a:avLst/>
              <a:gdLst/>
              <a:ahLst/>
              <a:cxnLst/>
              <a:rect l="l" t="t" r="r" b="b"/>
              <a:pathLst>
                <a:path w="1959" h="596" extrusionOk="0">
                  <a:moveTo>
                    <a:pt x="298" y="0"/>
                  </a:moveTo>
                  <a:cubicBezTo>
                    <a:pt x="123" y="0"/>
                    <a:pt x="0" y="123"/>
                    <a:pt x="41" y="339"/>
                  </a:cubicBezTo>
                  <a:cubicBezTo>
                    <a:pt x="41" y="472"/>
                    <a:pt x="164" y="595"/>
                    <a:pt x="339" y="595"/>
                  </a:cubicBezTo>
                  <a:lnTo>
                    <a:pt x="1620" y="595"/>
                  </a:lnTo>
                  <a:cubicBezTo>
                    <a:pt x="1794" y="595"/>
                    <a:pt x="1958" y="421"/>
                    <a:pt x="1917" y="216"/>
                  </a:cubicBezTo>
                  <a:cubicBezTo>
                    <a:pt x="1876" y="82"/>
                    <a:pt x="1743" y="0"/>
                    <a:pt x="162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>
              <a:extLst>
                <a:ext uri="{FF2B5EF4-FFF2-40B4-BE49-F238E27FC236}">
                  <a16:creationId xmlns:a16="http://schemas.microsoft.com/office/drawing/2014/main" id="{841D3A88-E57A-5B29-57DB-7004E69FE3DB}"/>
                </a:ext>
              </a:extLst>
            </p:cNvPr>
            <p:cNvSpPr/>
            <p:nvPr/>
          </p:nvSpPr>
          <p:spPr>
            <a:xfrm>
              <a:off x="5701713" y="2076025"/>
              <a:ext cx="92025" cy="14875"/>
            </a:xfrm>
            <a:custGeom>
              <a:avLst/>
              <a:gdLst/>
              <a:ahLst/>
              <a:cxnLst/>
              <a:rect l="l" t="t" r="r" b="b"/>
              <a:pathLst>
                <a:path w="3681" h="595" extrusionOk="0">
                  <a:moveTo>
                    <a:pt x="298" y="0"/>
                  </a:moveTo>
                  <a:cubicBezTo>
                    <a:pt x="134" y="0"/>
                    <a:pt x="1" y="174"/>
                    <a:pt x="1" y="338"/>
                  </a:cubicBezTo>
                  <a:cubicBezTo>
                    <a:pt x="42" y="513"/>
                    <a:pt x="175" y="595"/>
                    <a:pt x="298" y="595"/>
                  </a:cubicBezTo>
                  <a:lnTo>
                    <a:pt x="3373" y="595"/>
                  </a:lnTo>
                  <a:cubicBezTo>
                    <a:pt x="3548" y="595"/>
                    <a:pt x="3681" y="431"/>
                    <a:pt x="3681" y="256"/>
                  </a:cubicBezTo>
                  <a:cubicBezTo>
                    <a:pt x="3630" y="133"/>
                    <a:pt x="3507" y="0"/>
                    <a:pt x="337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>
              <a:extLst>
                <a:ext uri="{FF2B5EF4-FFF2-40B4-BE49-F238E27FC236}">
                  <a16:creationId xmlns:a16="http://schemas.microsoft.com/office/drawing/2014/main" id="{DEC53D24-0E93-2E7B-55AB-D7E5F53CADA9}"/>
                </a:ext>
              </a:extLst>
            </p:cNvPr>
            <p:cNvSpPr/>
            <p:nvPr/>
          </p:nvSpPr>
          <p:spPr>
            <a:xfrm>
              <a:off x="5745538" y="2125225"/>
              <a:ext cx="48200" cy="14900"/>
            </a:xfrm>
            <a:custGeom>
              <a:avLst/>
              <a:gdLst/>
              <a:ahLst/>
              <a:cxnLst/>
              <a:rect l="l" t="t" r="r" b="b"/>
              <a:pathLst>
                <a:path w="1928" h="596" extrusionOk="0">
                  <a:moveTo>
                    <a:pt x="298" y="0"/>
                  </a:moveTo>
                  <a:cubicBezTo>
                    <a:pt x="134" y="0"/>
                    <a:pt x="1" y="123"/>
                    <a:pt x="1" y="339"/>
                  </a:cubicBezTo>
                  <a:cubicBezTo>
                    <a:pt x="42" y="472"/>
                    <a:pt x="175" y="595"/>
                    <a:pt x="298" y="595"/>
                  </a:cubicBezTo>
                  <a:lnTo>
                    <a:pt x="1620" y="595"/>
                  </a:lnTo>
                  <a:cubicBezTo>
                    <a:pt x="1795" y="595"/>
                    <a:pt x="1928" y="421"/>
                    <a:pt x="1928" y="216"/>
                  </a:cubicBezTo>
                  <a:cubicBezTo>
                    <a:pt x="1877" y="82"/>
                    <a:pt x="1754" y="0"/>
                    <a:pt x="1620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>
              <a:extLst>
                <a:ext uri="{FF2B5EF4-FFF2-40B4-BE49-F238E27FC236}">
                  <a16:creationId xmlns:a16="http://schemas.microsoft.com/office/drawing/2014/main" id="{CF654689-CCD1-9F11-7EC1-60998882F5D0}"/>
                </a:ext>
              </a:extLst>
            </p:cNvPr>
            <p:cNvSpPr/>
            <p:nvPr/>
          </p:nvSpPr>
          <p:spPr>
            <a:xfrm>
              <a:off x="5592788" y="2141125"/>
              <a:ext cx="180450" cy="179425"/>
            </a:xfrm>
            <a:custGeom>
              <a:avLst/>
              <a:gdLst/>
              <a:ahLst/>
              <a:cxnLst/>
              <a:rect l="l" t="t" r="r" b="b"/>
              <a:pathLst>
                <a:path w="7218" h="7177" extrusionOk="0">
                  <a:moveTo>
                    <a:pt x="2912" y="605"/>
                  </a:moveTo>
                  <a:cubicBezTo>
                    <a:pt x="4194" y="605"/>
                    <a:pt x="5260" y="1630"/>
                    <a:pt x="5260" y="2952"/>
                  </a:cubicBezTo>
                  <a:cubicBezTo>
                    <a:pt x="5260" y="4234"/>
                    <a:pt x="4194" y="5259"/>
                    <a:pt x="2912" y="5259"/>
                  </a:cubicBezTo>
                  <a:cubicBezTo>
                    <a:pt x="1631" y="5259"/>
                    <a:pt x="606" y="4234"/>
                    <a:pt x="606" y="2952"/>
                  </a:cubicBezTo>
                  <a:cubicBezTo>
                    <a:pt x="606" y="1630"/>
                    <a:pt x="1631" y="605"/>
                    <a:pt x="2912" y="605"/>
                  </a:cubicBezTo>
                  <a:close/>
                  <a:moveTo>
                    <a:pt x="2912" y="0"/>
                  </a:moveTo>
                  <a:cubicBezTo>
                    <a:pt x="1282" y="0"/>
                    <a:pt x="1" y="1322"/>
                    <a:pt x="1" y="2952"/>
                  </a:cubicBezTo>
                  <a:cubicBezTo>
                    <a:pt x="1" y="4531"/>
                    <a:pt x="1282" y="5854"/>
                    <a:pt x="2912" y="5854"/>
                  </a:cubicBezTo>
                  <a:cubicBezTo>
                    <a:pt x="3589" y="5854"/>
                    <a:pt x="4276" y="5597"/>
                    <a:pt x="4747" y="5167"/>
                  </a:cubicBezTo>
                  <a:lnTo>
                    <a:pt x="6664" y="7094"/>
                  </a:lnTo>
                  <a:cubicBezTo>
                    <a:pt x="6705" y="7176"/>
                    <a:pt x="6797" y="7176"/>
                    <a:pt x="6879" y="7176"/>
                  </a:cubicBezTo>
                  <a:cubicBezTo>
                    <a:pt x="6961" y="7176"/>
                    <a:pt x="7013" y="7176"/>
                    <a:pt x="7095" y="7094"/>
                  </a:cubicBezTo>
                  <a:cubicBezTo>
                    <a:pt x="7218" y="7012"/>
                    <a:pt x="7218" y="6797"/>
                    <a:pt x="7095" y="6663"/>
                  </a:cubicBezTo>
                  <a:lnTo>
                    <a:pt x="5167" y="4787"/>
                  </a:lnTo>
                  <a:cubicBezTo>
                    <a:pt x="5598" y="4275"/>
                    <a:pt x="5813" y="3629"/>
                    <a:pt x="5813" y="2952"/>
                  </a:cubicBezTo>
                  <a:cubicBezTo>
                    <a:pt x="5813" y="1322"/>
                    <a:pt x="4532" y="0"/>
                    <a:pt x="291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Graphic 4" descr="Gauge outline">
            <a:extLst>
              <a:ext uri="{FF2B5EF4-FFF2-40B4-BE49-F238E27FC236}">
                <a16:creationId xmlns:a16="http://schemas.microsoft.com/office/drawing/2014/main" id="{1CEBA4E9-91F7-D9F0-EE35-AEF899AFBA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667" y="2479568"/>
            <a:ext cx="384426" cy="38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68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" grpId="0" build="p"/>
      <p:bldP spid="338" grpId="0" build="p"/>
      <p:bldP spid="339" grpId="0" build="p"/>
      <p:bldP spid="340" grpId="0" build="p"/>
      <p:bldP spid="341" grpId="0" build="p"/>
      <p:bldP spid="34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122365E9-5046-E4F3-73E8-D7CEED393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24EC3AAA-B72A-6A34-71D4-ABFDD227EC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330" name="Google Shape;330;p36">
            <a:extLst>
              <a:ext uri="{FF2B5EF4-FFF2-40B4-BE49-F238E27FC236}">
                <a16:creationId xmlns:a16="http://schemas.microsoft.com/office/drawing/2014/main" id="{33EAB3C3-6717-E115-8EF4-CCCFBF9235E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used to achieve our speed-up</a:t>
            </a:r>
            <a:endParaRPr dirty="0"/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1893580C-AD0B-07B0-C552-9F8D57B7D06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0911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198A734F-5B8B-436C-1BBA-2B6028B58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2F1EDEC0-F6A1-C49F-F66A-F4A13A2BD6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Python's Numba</a:t>
            </a:r>
            <a:endParaRPr dirty="0"/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BADAE92D-6EDC-9070-1F55-73A1B82273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1200"/>
              </a:spcAft>
              <a:buSzPts val="1400"/>
              <a:buFont typeface="Hanken Grotesk"/>
              <a:buChar char="●"/>
            </a:pPr>
            <a:r>
              <a:rPr lang="en-US" dirty="0"/>
              <a:t>An open-source just-in-time (JIT) compiler that translates a subset of Python and NumPy code into fast machine code (via LLVM).</a:t>
            </a:r>
          </a:p>
          <a:p>
            <a:pPr marL="457200" lvl="0" indent="-317500" algn="l" rtl="0">
              <a:spcBef>
                <a:spcPts val="0"/>
              </a:spcBef>
              <a:spcAft>
                <a:spcPts val="1200"/>
              </a:spcAft>
              <a:buSzPts val="1400"/>
              <a:buFont typeface="Hanken Grotesk"/>
              <a:buChar char="●"/>
            </a:pPr>
            <a:r>
              <a:rPr lang="en-US" dirty="0"/>
              <a:t>Since our original codebase is written in Python, it was the best and most obvious choice.</a:t>
            </a:r>
          </a:p>
          <a:p>
            <a:pPr marL="457200" lvl="0" indent="-317500" algn="l" rtl="0">
              <a:spcBef>
                <a:spcPts val="0"/>
              </a:spcBef>
              <a:spcAft>
                <a:spcPts val="1200"/>
              </a:spcAft>
              <a:buSzPts val="1400"/>
              <a:buFont typeface="Hanken Grotesk"/>
              <a:buChar char="●"/>
            </a:pPr>
            <a:r>
              <a:rPr lang="en-US" dirty="0"/>
              <a:t>It works in a similar fashion to C's OpenMP, and has similar features such as "</a:t>
            </a:r>
            <a:r>
              <a:rPr lang="en-US" dirty="0" err="1"/>
              <a:t>prange</a:t>
            </a:r>
            <a:r>
              <a:rPr lang="en-US" dirty="0"/>
              <a:t>" ("parallel for" in OpenMP).</a:t>
            </a:r>
          </a:p>
          <a:p>
            <a:pPr marL="457200" lvl="0" indent="-317500" algn="l" rtl="0">
              <a:spcBef>
                <a:spcPts val="0"/>
              </a:spcBef>
              <a:spcAft>
                <a:spcPts val="600"/>
              </a:spcAft>
              <a:buSzPts val="1400"/>
              <a:buFont typeface="Hanken Grotesk"/>
              <a:buChar char="●"/>
            </a:pPr>
            <a:r>
              <a:rPr lang="en-US" dirty="0"/>
              <a:t>It's perfect for auto-parallelization as we don't need to change the serial code at all, but to add:</a:t>
            </a:r>
          </a:p>
          <a:p>
            <a:pPr lvl="1" indent="-317500">
              <a:spcAft>
                <a:spcPts val="600"/>
              </a:spcAft>
              <a:buSzPts val="1400"/>
              <a:buFont typeface="Hanken Grotesk"/>
              <a:buChar char="●"/>
            </a:pPr>
            <a:r>
              <a:rPr lang="en-US" dirty="0" err="1"/>
              <a:t>jit</a:t>
            </a:r>
            <a:r>
              <a:rPr lang="en-US" dirty="0"/>
              <a:t>(parallel=True) decorator to the functions we want parallelized</a:t>
            </a:r>
          </a:p>
          <a:p>
            <a:pPr lvl="1" indent="-317500">
              <a:spcAft>
                <a:spcPts val="600"/>
              </a:spcAft>
              <a:buSzPts val="1400"/>
              <a:buFont typeface="Hanken Grotesk"/>
              <a:buChar char="●"/>
            </a:pPr>
            <a:r>
              <a:rPr lang="en-US" dirty="0" err="1"/>
              <a:t>pranges</a:t>
            </a:r>
            <a:r>
              <a:rPr lang="en-US" dirty="0"/>
              <a:t> to the loops we wanted parallelized instead of normal ranges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10259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DBB19BB3-97FE-E612-7CB4-ECADA0180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0233C3F5-4409-C713-FA35-4C9D0790AF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Python's Numba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C36136-F8F6-8B30-CC28-638366F04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5860"/>
            <a:ext cx="9144000" cy="31694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5DF9B3-444F-D2FA-A0BF-91840BC83FBC}"/>
              </a:ext>
            </a:extLst>
          </p:cNvPr>
          <p:cNvSpPr/>
          <p:nvPr/>
        </p:nvSpPr>
        <p:spPr>
          <a:xfrm>
            <a:off x="450055" y="1543049"/>
            <a:ext cx="1907383" cy="271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BBBC6-D0C7-65B1-1405-CF252A1E406C}"/>
              </a:ext>
            </a:extLst>
          </p:cNvPr>
          <p:cNvSpPr/>
          <p:nvPr/>
        </p:nvSpPr>
        <p:spPr>
          <a:xfrm>
            <a:off x="1493043" y="2920594"/>
            <a:ext cx="1907383" cy="3226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04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8C461D5B-BD11-1E16-6AA2-699BE328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0811E7-D95A-3626-9B0D-C0311CB52A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622"/>
          <a:stretch>
            <a:fillRect/>
          </a:stretch>
        </p:blipFill>
        <p:spPr>
          <a:xfrm>
            <a:off x="204344" y="2246450"/>
            <a:ext cx="8735311" cy="2663439"/>
          </a:xfrm>
          <a:prstGeom prst="rect">
            <a:avLst/>
          </a:prstGeom>
        </p:spPr>
      </p:pic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6477A08A-485C-D6FE-2CC3-F3C3EA76FD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GUI Modification</a:t>
            </a:r>
            <a:endParaRPr dirty="0"/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321EDCD1-90C8-9961-539B-CE64B636B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28169"/>
            <a:ext cx="7704000" cy="9702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600"/>
              </a:spcAft>
              <a:buSzPts val="1400"/>
              <a:buFont typeface="Hanken Grotesk"/>
              <a:buChar char="●"/>
            </a:pPr>
            <a:r>
              <a:rPr lang="en-US" dirty="0"/>
              <a:t>The original application came with a GUI to showcase these algorithms.</a:t>
            </a:r>
          </a:p>
          <a:p>
            <a:pPr marL="457200" lvl="0" indent="-317500" algn="l" rtl="0">
              <a:spcBef>
                <a:spcPts val="0"/>
              </a:spcBef>
              <a:spcAft>
                <a:spcPts val="600"/>
              </a:spcAft>
              <a:buSzPts val="1400"/>
              <a:buFont typeface="Hanken Grotesk"/>
              <a:buChar char="●"/>
            </a:pPr>
            <a:r>
              <a:rPr lang="en-US" dirty="0"/>
              <a:t>We hijacked that GUI to show the differences and speed-up between both serial and parallel implementation of the same algorithm.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28756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5C90EDC3-2369-EAE0-8C32-42007D286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69AD53F1-ADFB-B664-B1C1-B8296C9648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330" name="Google Shape;330;p36">
            <a:extLst>
              <a:ext uri="{FF2B5EF4-FFF2-40B4-BE49-F238E27FC236}">
                <a16:creationId xmlns:a16="http://schemas.microsoft.com/office/drawing/2014/main" id="{5212C789-01EB-7404-37EF-89588BE12C2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used to achieve our speed-up</a:t>
            </a:r>
            <a:endParaRPr dirty="0"/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EAD5DF71-46B2-2F76-A4E4-F42A71AD811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2430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2DA725C4-6097-983B-F47F-15638E3B1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3B28BF2F-8F54-8F2E-AEA1-83798CD834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Perf Results</a:t>
            </a:r>
            <a:endParaRPr dirty="0"/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16B5DCC4-A679-4FA1-377B-6938032C1C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646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rPr lang="en-US" dirty="0"/>
              <a:t>We used perf tool to test the serial and parallel implementation of the gaussian blur algorithm on 10 very large (4000 x 4000) images.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7613F5-6882-7FD3-B9EF-DB28B1CC5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737624"/>
              </p:ext>
            </p:extLst>
          </p:nvPr>
        </p:nvGraphicFramePr>
        <p:xfrm>
          <a:off x="720000" y="1900735"/>
          <a:ext cx="7703998" cy="2595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66061">
                  <a:extLst>
                    <a:ext uri="{9D8B030D-6E8A-4147-A177-3AD203B41FA5}">
                      <a16:colId xmlns:a16="http://schemas.microsoft.com/office/drawing/2014/main" val="3803682910"/>
                    </a:ext>
                  </a:extLst>
                </a:gridCol>
                <a:gridCol w="1328738">
                  <a:extLst>
                    <a:ext uri="{9D8B030D-6E8A-4147-A177-3AD203B41FA5}">
                      <a16:colId xmlns:a16="http://schemas.microsoft.com/office/drawing/2014/main" val="3493555131"/>
                    </a:ext>
                  </a:extLst>
                </a:gridCol>
                <a:gridCol w="1328738">
                  <a:extLst>
                    <a:ext uri="{9D8B030D-6E8A-4147-A177-3AD203B41FA5}">
                      <a16:colId xmlns:a16="http://schemas.microsoft.com/office/drawing/2014/main" val="3912346080"/>
                    </a:ext>
                  </a:extLst>
                </a:gridCol>
                <a:gridCol w="2980461">
                  <a:extLst>
                    <a:ext uri="{9D8B030D-6E8A-4147-A177-3AD203B41FA5}">
                      <a16:colId xmlns:a16="http://schemas.microsoft.com/office/drawing/2014/main" val="473977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478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Total time (10 runs)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1374.0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429× 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018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Average time per run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137.4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429× 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27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CPU utilization</a:t>
                      </a:r>
                      <a:endParaRPr lang="en-US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1.0 CPUs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6.2 CPUs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6.2× more cores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49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User time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1367.2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31.35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44× less CPU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79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System time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slightly higher (thread overhead)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02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Elapsed (wall) time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1374.2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5.65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243× 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728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222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826CEDFE-BF90-EDED-94B9-B9436F41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>
            <a:extLst>
              <a:ext uri="{FF2B5EF4-FFF2-40B4-BE49-F238E27FC236}">
                <a16:creationId xmlns:a16="http://schemas.microsoft.com/office/drawing/2014/main" id="{1DB768B4-FDDF-E93A-471D-0A4C69B55F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Perf Results: Summary</a:t>
            </a:r>
            <a:endParaRPr dirty="0"/>
          </a:p>
        </p:txBody>
      </p:sp>
      <p:sp>
        <p:nvSpPr>
          <p:cNvPr id="596" name="Google Shape;596;p48">
            <a:extLst>
              <a:ext uri="{FF2B5EF4-FFF2-40B4-BE49-F238E27FC236}">
                <a16:creationId xmlns:a16="http://schemas.microsoft.com/office/drawing/2014/main" id="{7E289317-AA94-4B66-18D0-EBF6C76AF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4256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rPr lang="en-US" sz="1600" b="1" dirty="0"/>
              <a:t>Speedup</a:t>
            </a:r>
          </a:p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rPr lang="en-US" dirty="0"/>
              <a:t>429× (137 seconds → 0.32 seconds per 4000 x 4000 image)</a:t>
            </a:r>
          </a:p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endParaRPr lang="en-US" dirty="0"/>
          </a:p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rPr lang="en-US" sz="1600" b="1" dirty="0"/>
              <a:t>Efficiency</a:t>
            </a:r>
          </a:p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rPr lang="en-US" dirty="0"/>
              <a:t>Parallel version retires 64% of cycles vs. 40% in serial due to far less frontend stalling.</a:t>
            </a:r>
          </a:p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endParaRPr lang="en-US" dirty="0"/>
          </a:p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rPr lang="en-US" sz="1600" b="1" dirty="0"/>
              <a:t>Cost</a:t>
            </a:r>
          </a:p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rPr lang="en-US" dirty="0"/>
              <a:t>Slight increase in branch misses, page faults, and system time, but dwarfed by the massive speedup.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0552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266DCC6D-BEAD-41E3-5AD6-51A294965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60">
            <a:extLst>
              <a:ext uri="{FF2B5EF4-FFF2-40B4-BE49-F238E27FC236}">
                <a16:creationId xmlns:a16="http://schemas.microsoft.com/office/drawing/2014/main" id="{2B3A008D-D823-4BA2-1D4C-5D19CB1738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4262" y="778324"/>
            <a:ext cx="5380279" cy="2023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 for listening!</a:t>
            </a:r>
            <a:endParaRPr dirty="0"/>
          </a:p>
        </p:txBody>
      </p:sp>
      <p:sp>
        <p:nvSpPr>
          <p:cNvPr id="857" name="Google Shape;857;p60">
            <a:extLst>
              <a:ext uri="{FF2B5EF4-FFF2-40B4-BE49-F238E27FC236}">
                <a16:creationId xmlns:a16="http://schemas.microsoft.com/office/drawing/2014/main" id="{B340F157-757E-C4D5-CB8D-198D9244EF1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4225" y="2801886"/>
            <a:ext cx="2909962" cy="7377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Any Questions?</a:t>
            </a:r>
            <a:endParaRPr sz="2800" dirty="0"/>
          </a:p>
        </p:txBody>
      </p:sp>
      <p:pic>
        <p:nvPicPr>
          <p:cNvPr id="3" name="Graphic 2" descr="Question Mark outline">
            <a:extLst>
              <a:ext uri="{FF2B5EF4-FFF2-40B4-BE49-F238E27FC236}">
                <a16:creationId xmlns:a16="http://schemas.microsoft.com/office/drawing/2014/main" id="{2C272AE8-1AE0-BB78-EC79-8253A9CF3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42802">
            <a:off x="4004187" y="2728452"/>
            <a:ext cx="494071" cy="494071"/>
          </a:xfrm>
          <a:prstGeom prst="rect">
            <a:avLst/>
          </a:prstGeom>
        </p:spPr>
      </p:pic>
      <p:pic>
        <p:nvPicPr>
          <p:cNvPr id="4" name="Graphic 3" descr="Question Mark outline">
            <a:extLst>
              <a:ext uri="{FF2B5EF4-FFF2-40B4-BE49-F238E27FC236}">
                <a16:creationId xmlns:a16="http://schemas.microsoft.com/office/drawing/2014/main" id="{26FBEE44-D4CB-8226-31AA-D28422F727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59113">
            <a:off x="3757151" y="3326498"/>
            <a:ext cx="494071" cy="494071"/>
          </a:xfrm>
          <a:prstGeom prst="rect">
            <a:avLst/>
          </a:prstGeom>
        </p:spPr>
      </p:pic>
      <p:pic>
        <p:nvPicPr>
          <p:cNvPr id="5" name="Graphic 4" descr="Question Mark outline">
            <a:extLst>
              <a:ext uri="{FF2B5EF4-FFF2-40B4-BE49-F238E27FC236}">
                <a16:creationId xmlns:a16="http://schemas.microsoft.com/office/drawing/2014/main" id="{2ED965EC-0096-00E2-A8B0-29CAC72195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670367">
            <a:off x="3317263" y="3636813"/>
            <a:ext cx="494071" cy="494071"/>
          </a:xfrm>
          <a:prstGeom prst="rect">
            <a:avLst/>
          </a:prstGeom>
        </p:spPr>
      </p:pic>
      <p:pic>
        <p:nvPicPr>
          <p:cNvPr id="6" name="Graphic 5" descr="Question Mark outline">
            <a:extLst>
              <a:ext uri="{FF2B5EF4-FFF2-40B4-BE49-F238E27FC236}">
                <a16:creationId xmlns:a16="http://schemas.microsoft.com/office/drawing/2014/main" id="{1A533F82-F476-CE78-4607-FA97C19EE7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59113">
            <a:off x="5254112" y="3739452"/>
            <a:ext cx="494071" cy="494071"/>
          </a:xfrm>
          <a:prstGeom prst="rect">
            <a:avLst/>
          </a:prstGeom>
        </p:spPr>
      </p:pic>
      <p:pic>
        <p:nvPicPr>
          <p:cNvPr id="7" name="Graphic 6" descr="Question Mark outline">
            <a:extLst>
              <a:ext uri="{FF2B5EF4-FFF2-40B4-BE49-F238E27FC236}">
                <a16:creationId xmlns:a16="http://schemas.microsoft.com/office/drawing/2014/main" id="{A0DD9DE0-F388-9778-C5A9-E763605B5F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555379">
            <a:off x="4811403" y="3038765"/>
            <a:ext cx="494071" cy="494071"/>
          </a:xfrm>
          <a:prstGeom prst="rect">
            <a:avLst/>
          </a:prstGeom>
        </p:spPr>
      </p:pic>
      <p:pic>
        <p:nvPicPr>
          <p:cNvPr id="8" name="Graphic 7" descr="Question Mark outline">
            <a:extLst>
              <a:ext uri="{FF2B5EF4-FFF2-40B4-BE49-F238E27FC236}">
                <a16:creationId xmlns:a16="http://schemas.microsoft.com/office/drawing/2014/main" id="{DBD4248D-C796-F356-D514-8E0BA3F815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684048">
            <a:off x="4414503" y="3636812"/>
            <a:ext cx="494071" cy="49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246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On-screen Show (16:9)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Hanken Grotesk</vt:lpstr>
      <vt:lpstr>Arial</vt:lpstr>
      <vt:lpstr>Figtree Black</vt:lpstr>
      <vt:lpstr>Elegant Black &amp; White Thesis Defense by Slidesgo</vt:lpstr>
      <vt:lpstr>Parallelization of Image Processing Algorithms</vt:lpstr>
      <vt:lpstr>Team Members</vt:lpstr>
      <vt:lpstr>Problem</vt:lpstr>
      <vt:lpstr>Image Processing Algorithms</vt:lpstr>
      <vt:lpstr>Methodology</vt:lpstr>
      <vt:lpstr>Python's Numba</vt:lpstr>
      <vt:lpstr>Python's Numba</vt:lpstr>
      <vt:lpstr>GUI Modification</vt:lpstr>
      <vt:lpstr>Results</vt:lpstr>
      <vt:lpstr>Perf Results</vt:lpstr>
      <vt:lpstr>Perf Results: Summary</vt:lpstr>
      <vt:lpstr>Thank you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AbdelRahman Rahal</dc:creator>
  <cp:lastModifiedBy>AbdelRahman Ehab Rahal</cp:lastModifiedBy>
  <cp:revision>1</cp:revision>
  <dcterms:modified xsi:type="dcterms:W3CDTF">2026-05-23T01:06:02Z</dcterms:modified>
</cp:coreProperties>
</file>